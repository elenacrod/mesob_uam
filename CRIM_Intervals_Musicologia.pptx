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943600" y="182880"/>
            <a:ext cx="3840480" cy="3840480"/>
          </a:xfrm>
          <a:prstGeom prst="ellipse">
            <a:avLst/>
          </a:prstGeom>
          <a:solidFill>
            <a:srgbClr val="6D2E46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914400"/>
            <a:ext cx="2560320" cy="2560320"/>
          </a:xfrm>
          <a:prstGeom prst="ellipse">
            <a:avLst/>
          </a:prstGeom>
          <a:solidFill>
            <a:srgbClr val="A2676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0" y="1371600"/>
            <a:ext cx="3200400" cy="365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0" y="1627632"/>
            <a:ext cx="3200400" cy="365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0" y="1883664"/>
            <a:ext cx="3200400" cy="365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2139696"/>
            <a:ext cx="3200400" cy="365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0" y="2395728"/>
            <a:ext cx="3200400" cy="365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949440" y="1920240"/>
            <a:ext cx="502920" cy="384048"/>
          </a:xfrm>
          <a:prstGeom prst="ellipse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24927" y="960120"/>
            <a:ext cx="45720" cy="1005840"/>
          </a:xfrm>
          <a:prstGeom prst="rect">
            <a:avLst/>
          </a:prstGeom>
          <a:solidFill>
            <a:srgbClr val="ECE2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CE2D0"/>
                </a:solidFill>
                <a:latin typeface="Georgia"/>
              </a:rPr>
              <a:t>CRIM Intervals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916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C8979A"/>
                </a:solidFill>
                <a:latin typeface="Georgia"/>
              </a:rPr>
              <a:t>Herramientas de Análisis para la Polifonía Renacentista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871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CE2D0"/>
                </a:solidFill>
                <a:latin typeface="Calibri"/>
              </a:rPr>
              <a:t>Una introducción para estudiantes de musicología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27248"/>
            <a:ext cx="5029200" cy="365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979A"/>
                </a:solidFill>
                <a:latin typeface="Calibri"/>
              </a:rPr>
              <a:t>Citations: The Renaissance Imitation Mass  ·  crimproject.org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¿Qué es el Proyecto CRIM?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Sobre 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429768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400" b="1" i="0">
                <a:solidFill>
                  <a:srgbClr val="2C1018"/>
                </a:solidFill>
                <a:latin typeface="Calibri"/>
              </a:rPr>
              <a:t>CRIM = Citations: The Renaissance Imitation Mass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Estudia cómo compositores del s. XVI transformaron obras en ciclos de Misa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Dirigido por el Prof. Richard Freedman (Haverford College)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0" y="1078992"/>
            <a:ext cx="3840480" cy="8686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1078992"/>
            <a:ext cx="1554480" cy="868680"/>
          </a:xfrm>
          <a:prstGeom prst="rect">
            <a:avLst/>
          </a:prstGeom>
          <a:noFill/>
        </p:spPr>
        <p:txBody>
          <a:bodyPr wrap="square" lIns="45720" tIns="201168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50+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078992"/>
            <a:ext cx="2084831" cy="868680"/>
          </a:xfrm>
          <a:prstGeom prst="rect">
            <a:avLst/>
          </a:prstGeom>
          <a:noFill/>
        </p:spPr>
        <p:txBody>
          <a:bodyPr wrap="square" lIns="0" tIns="274320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investigadores internacionales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2130552"/>
            <a:ext cx="3840480" cy="86868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130552"/>
            <a:ext cx="1554480" cy="868680"/>
          </a:xfrm>
          <a:prstGeom prst="rect">
            <a:avLst/>
          </a:prstGeom>
          <a:noFill/>
        </p:spPr>
        <p:txBody>
          <a:bodyPr wrap="square" lIns="45720" tIns="201168">
            <a:spAutoFit/>
          </a:bodyPr>
          <a:lstStyle/>
          <a:p>
            <a:pPr algn="l"/>
            <a:r>
              <a:rPr sz="2200" b="1" i="0">
                <a:solidFill>
                  <a:srgbClr val="ECE2D0"/>
                </a:solidFill>
                <a:latin typeface="Georgia"/>
              </a:rPr>
              <a:t>~3.000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130552"/>
            <a:ext cx="2084831" cy="868680"/>
          </a:xfrm>
          <a:prstGeom prst="rect">
            <a:avLst/>
          </a:prstGeom>
          <a:noFill/>
        </p:spPr>
        <p:txBody>
          <a:bodyPr wrap="square" lIns="0" tIns="274320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relaciones documentadas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3182111"/>
            <a:ext cx="3840480" cy="8686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182111"/>
            <a:ext cx="1554480" cy="868680"/>
          </a:xfrm>
          <a:prstGeom prst="rect">
            <a:avLst/>
          </a:prstGeom>
          <a:noFill/>
        </p:spPr>
        <p:txBody>
          <a:bodyPr wrap="square" lIns="45720" tIns="201168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182111"/>
            <a:ext cx="2084831" cy="868680"/>
          </a:xfrm>
          <a:prstGeom prst="rect">
            <a:avLst/>
          </a:prstGeom>
          <a:noFill/>
        </p:spPr>
        <p:txBody>
          <a:bodyPr wrap="square" lIns="0" tIns="274320">
            <a:spAutoFit/>
          </a:bodyPr>
          <a:lstStyle/>
          <a:p>
            <a:pPr algn="l"/>
            <a:r>
              <a:rPr sz="1200" b="0" i="0">
                <a:solidFill>
                  <a:srgbClr val="ECE2D0"/>
                </a:solidFill>
                <a:latin typeface="Calibri"/>
              </a:rPr>
              <a:t>instituciones principales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22452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26769"/>
                </a:solidFill>
                <a:latin typeface="Calibri"/>
              </a:rPr>
              <a:t>Haverford College  +  Centre d'Études Supérieures de la Renaissance (Tours, Francia)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0" y="3520440"/>
            <a:ext cx="1554480" cy="1554480"/>
          </a:xfrm>
          <a:prstGeom prst="ellipse">
            <a:avLst/>
          </a:prstGeom>
          <a:solidFill>
            <a:srgbClr val="6D2E46">
              <a:alpha val="18000"/>
            </a:srgbClr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Acceso Sin Código: La Aplicación Streamlit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09728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97280"/>
            <a:ext cx="566928" cy="566928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600" b="1" i="0">
                <a:solidFill>
                  <a:srgbClr val="ECE2D0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69848"/>
            <a:ext cx="320040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Sin programación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99031"/>
            <a:ext cx="786384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Interfaz web intuitiva, sin necesidad de conocimientos técnicos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920239"/>
            <a:ext cx="566928" cy="56692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20239"/>
            <a:ext cx="566928" cy="566928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600" b="1" i="0">
                <a:solidFill>
                  <a:srgbClr val="ECE2D0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92807"/>
            <a:ext cx="320040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Formatos abiertos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221991"/>
            <a:ext cx="786384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Compatible con MEI, MusicXML y MIDI</a:t>
            </a:r>
          </a:p>
        </p:txBody>
      </p:sp>
      <p:sp>
        <p:nvSpPr>
          <p:cNvPr id="13" name="Oval 12"/>
          <p:cNvSpPr/>
          <p:nvPr/>
        </p:nvSpPr>
        <p:spPr>
          <a:xfrm>
            <a:off x="274320" y="2743200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743200"/>
            <a:ext cx="566928" cy="566928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600" b="1" i="0">
                <a:solidFill>
                  <a:srgbClr val="ECE2D0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715768"/>
            <a:ext cx="320040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Resultados descargables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044952"/>
            <a:ext cx="786384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Tablas, gráficos y CSV para publicaciones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566160"/>
            <a:ext cx="566928" cy="56692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566160"/>
            <a:ext cx="566928" cy="566928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600" b="1" i="0">
                <a:solidFill>
                  <a:srgbClr val="ECE2D0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38728"/>
            <a:ext cx="320040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Corpus integrado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867912"/>
            <a:ext cx="7863840" cy="320040"/>
          </a:xfrm>
          <a:prstGeom prst="rect">
            <a:avLst/>
          </a:prstGeom>
          <a:noFill/>
        </p:spPr>
        <p:txBody>
          <a:bodyPr wrap="square" tIns="18288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Acceso directo al corpus CRIM + tus propias partituras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462272"/>
            <a:ext cx="8595360" cy="402336"/>
          </a:xfrm>
          <a:prstGeom prst="rect">
            <a:avLst/>
          </a:prstGeom>
          <a:noFill/>
        </p:spPr>
        <p:txBody>
          <a:bodyPr wrap="square" lIns="0" tIns="64008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Built on:  Python  ·  CRIM Intervals Library  ·  music21  ·  Streamlit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6D2E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74320"/>
            <a:ext cx="1828800" cy="1828800"/>
          </a:xfrm>
          <a:prstGeom prst="ellipse">
            <a:avLst/>
          </a:prstGeom>
          <a:solidFill>
            <a:srgbClr val="A26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CE2D0"/>
                </a:solidFill>
                <a:latin typeface="Georgia"/>
              </a:rPr>
              <a:t>El Repertorio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8979A"/>
                </a:solidFill>
                <a:latin typeface="Georgia"/>
              </a:rPr>
              <a:t>La Misa Imitación Renacentista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72768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Género clave del siglo XVI: la Misa parodia o de imitación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67712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Técnica compositiva: transformar motetes, chansons y otras piezas en ciclos de Misa de 5 movimientos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43784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24912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Compositores: Josquin · Palestrina · Lassus · Morales · Victoria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00984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Técnicas contrapuntísticas: fugas, dúos imitativos, entradas periódicas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99592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77056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El análisis computacional permite estudiar este repertorio a escala masiva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Herramienta 1: Análisis de Intervalos Melódicos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piece.melodic()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¿Qué hace?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41148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Identifica y cuantifica todos los intervalos melódicos de cada voz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Opciones: diatónico o cromático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Con o sin calidad interválica (mayor, menor, perfecto)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481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Utilidad para la polifonía renacentista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01952"/>
            <a:ext cx="4023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Detectar patrones motívicos recurrentes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Comparar los perfiles melódicos entre voces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Identificar material prestado (citación melódica)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Estudiar el estilo de cada compositor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0" y="3749039"/>
            <a:ext cx="1097280" cy="1097280"/>
          </a:xfrm>
          <a:prstGeom prst="ellipse">
            <a:avLst/>
          </a:prstGeom>
          <a:solidFill>
            <a:srgbClr val="6D2E46">
              <a:alpha val="22000"/>
            </a:srgbClr>
          </a:solidFill>
          <a:ln w="1905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Herramienta 2: Análisis de Intervalos Armónicos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piece.harmonic()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¿Qué hace?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01952"/>
            <a:ext cx="4114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Examina los intervalos verticales entre cada par de voces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Mide la distancia interválica en cada punto de la textura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46120"/>
            <a:ext cx="2926080" cy="25603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3246120"/>
            <a:ext cx="73152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2C1018"/>
                </a:solidFill>
                <a:latin typeface="Calibri"/>
              </a:rPr>
              <a:t>8va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75303"/>
            <a:ext cx="2377440" cy="256032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575303"/>
            <a:ext cx="73152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2C1018"/>
                </a:solidFill>
                <a:latin typeface="Calibri"/>
              </a:rPr>
              <a:t>5ta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904487"/>
            <a:ext cx="1828800" cy="256032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94560" y="3904487"/>
            <a:ext cx="73152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2C1018"/>
                </a:solidFill>
                <a:latin typeface="Calibri"/>
              </a:rPr>
              <a:t>3ra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33672"/>
            <a:ext cx="2103120" cy="256032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79" y="4233672"/>
            <a:ext cx="73152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100" b="0" i="0">
                <a:solidFill>
                  <a:srgbClr val="2C1018"/>
                </a:solidFill>
                <a:latin typeface="Calibri"/>
              </a:rPr>
              <a:t>6ta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1005840"/>
            <a:ext cx="54864" cy="347472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48132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Utilidad para la polifonía renacentista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901952"/>
            <a:ext cx="402336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Detectar consonancias y disonancias características del estilo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Analizar el tratamiento del contrapunto estricto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Identificar progresiones armónicas características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400" b="0" i="0">
                <a:solidFill>
                  <a:srgbClr val="2C1018"/>
                </a:solidFill>
                <a:latin typeface="Calibri"/>
              </a:rPr>
              <a:t>Estudiar la densidad contrapuntística de la textura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960120"/>
          </a:xfrm>
          <a:prstGeom prst="rect">
            <a:avLst/>
          </a:prstGeom>
          <a:noFill/>
        </p:spPr>
        <p:txBody>
          <a:bodyPr wrap="square" lIns="137160" tIns="201168">
            <a:spAutoFit/>
          </a:bodyPr>
          <a:lstStyle/>
          <a:p>
            <a:pPr algn="l"/>
            <a:r>
              <a:rPr sz="2400" b="1" i="0">
                <a:solidFill>
                  <a:srgbClr val="ECE2D0"/>
                </a:solidFill>
                <a:latin typeface="Georgia"/>
              </a:rPr>
              <a:t>Herramienta 3: N-gramas y Módulos Contrapuntísticos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59436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595360" cy="594360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800" b="1" i="1">
                <a:solidFill>
                  <a:srgbClr val="ECE2D0"/>
                </a:solidFill>
                <a:latin typeface="Georgia"/>
              </a:rPr>
              <a:t>El corazón analítico de CRIM Intervals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901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1018"/>
                </a:solidFill>
                <a:latin typeface="Calibri"/>
              </a:rPr>
              <a:t>Un módulo contrapuntístico combina: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21408"/>
            <a:ext cx="3474720" cy="65836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121408"/>
            <a:ext cx="3474720" cy="658368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Calibri"/>
              </a:rPr>
              <a:t>Intervalos verticales entre voces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121408"/>
            <a:ext cx="274320" cy="658368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2200" b="1" i="0">
                <a:solidFill>
                  <a:srgbClr val="6D2E46"/>
                </a:solidFill>
                <a:latin typeface="Georgia"/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2121408"/>
            <a:ext cx="3474720" cy="6583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0" y="2121408"/>
            <a:ext cx="3474720" cy="658368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Calibri"/>
              </a:rPr>
              <a:t>Movimiento melódico de la voz inferior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07792"/>
            <a:ext cx="4754880" cy="594360"/>
          </a:xfrm>
          <a:prstGeom prst="rect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907792"/>
            <a:ext cx="4754880" cy="594360"/>
          </a:xfrm>
          <a:prstGeom prst="rect">
            <a:avLst/>
          </a:prstGeom>
          <a:noFill/>
        </p:spPr>
        <p:txBody>
          <a:bodyPr wrap="square" lIns="0" tIns="128016">
            <a:spAutoFit/>
          </a:bodyPr>
          <a:lstStyle/>
          <a:p>
            <a:pPr algn="ctr"/>
            <a:r>
              <a:rPr sz="1800" b="1" i="0">
                <a:solidFill>
                  <a:srgbClr val="ECE2D0"/>
                </a:solidFill>
                <a:latin typeface="Calibri"/>
              </a:rPr>
              <a:t>"7_Held · 6_-2 · 8"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611880"/>
            <a:ext cx="8595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1018"/>
                </a:solidFill>
                <a:latin typeface="Calibri"/>
              </a:rPr>
              <a:t>Intervalos verticales 7→6→8 + nota ligada + descenso de 2a = fórmula cadencial típica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solidFill>
            <a:srgbClr val="F5EFE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114800"/>
            <a:ext cx="8595360" cy="685800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1300" b="1" i="0">
                <a:solidFill>
                  <a:srgbClr val="6D2E46"/>
                </a:solidFill>
                <a:latin typeface="Calibri"/>
              </a:rPr>
              <a:t>Utilidad: Detectar citas y transformaciones  ·  Comparar técnicas entre compositores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Herramienta 4: Detección de Cadencias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piece.cadences()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508760"/>
            <a:ext cx="2743200" cy="4114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508760"/>
            <a:ext cx="2743200" cy="411480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Georgia"/>
              </a:rPr>
              <a:t>Tipos detectados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9933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19933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Cadencia auténtica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6791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26791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Cadencia frigia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33649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" y="33649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Cadencia evitada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4050791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" y="4050791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Cadencia de engaño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508760"/>
            <a:ext cx="2743200" cy="41148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508760"/>
            <a:ext cx="2743200" cy="411480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Georgia"/>
              </a:rPr>
              <a:t>Información extraída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19933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19933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Voz que realiza la cláusula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26791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2" y="26791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Tono de la cadencia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3649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64992" y="33649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Posición métrica y formal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300" b="1" i="0">
                <a:solidFill>
                  <a:srgbClr val="ECE2D0"/>
                </a:solidFill>
                <a:latin typeface="Georgia"/>
              </a:rPr>
              <a:t>Utilidad musicológica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9933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8B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19933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Trazar el perfil tonal (modal)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6791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8B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99632" y="26791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Comparar modelo vs. Misa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364992"/>
            <a:ext cx="2743200" cy="594360"/>
          </a:xfrm>
          <a:prstGeom prst="rect">
            <a:avLst/>
          </a:prstGeom>
          <a:solidFill>
            <a:srgbClr val="F5EFE6"/>
          </a:solidFill>
          <a:ln w="12700">
            <a:solidFill>
              <a:srgbClr val="8B3A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9632" y="3364992"/>
            <a:ext cx="2596896" cy="594360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300" b="0" i="0">
                <a:solidFill>
                  <a:srgbClr val="2C1018"/>
                </a:solidFill>
                <a:latin typeface="Calibri"/>
              </a:rPr>
              <a:t>Analizar la articulación formal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Herramienta 5: Tipos de Presentación Imitativa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3108960" cy="347472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piece.presentationTypes()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402336" cy="38404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256032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FUGA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481328"/>
            <a:ext cx="539496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— Canon o quasi-canon entre voces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30552"/>
            <a:ext cx="402336" cy="38404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57400"/>
            <a:ext cx="256032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DÚO IMITATIVO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057400"/>
            <a:ext cx="539496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— Dos voces en imitación estricta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06624"/>
            <a:ext cx="402336" cy="38404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633472"/>
            <a:ext cx="256032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DÚO NO IMITATIVO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33472"/>
            <a:ext cx="539496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— Dos voces en contrapunto libre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82696"/>
            <a:ext cx="402336" cy="38404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09544"/>
            <a:ext cx="256032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ENTRADAS PERIÓDICAS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209544"/>
            <a:ext cx="539496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— Todas las voces con el mismo motivo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58768"/>
            <a:ext cx="402336" cy="384048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85616"/>
            <a:ext cx="256032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1" i="0">
                <a:solidFill>
                  <a:srgbClr val="6D2E46"/>
                </a:solidFill>
                <a:latin typeface="Georgia"/>
              </a:rPr>
              <a:t>HOMOFONÍA RÍTMICA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785616"/>
            <a:ext cx="5394960" cy="50292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300" b="0" i="0">
                <a:solidFill>
                  <a:srgbClr val="2C1018"/>
                </a:solidFill>
                <a:latin typeface="Calibri"/>
              </a:rPr>
              <a:t>— piece.homorhythm() — Movimiento sincrónico de voces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480560"/>
            <a:ext cx="8595360" cy="402336"/>
          </a:xfrm>
          <a:prstGeom prst="rect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4480560"/>
            <a:ext cx="8595360" cy="402336"/>
          </a:xfrm>
          <a:prstGeom prst="rect">
            <a:avLst/>
          </a:prstGeom>
          <a:noFill/>
        </p:spPr>
        <p:txBody>
          <a:bodyPr wrap="square" lIns="0" tIns="73152">
            <a:spAutoFit/>
          </a:bodyPr>
          <a:lstStyle/>
          <a:p>
            <a:pPr algn="ctr"/>
            <a:r>
              <a:rPr sz="1200" b="1" i="0">
                <a:solidFill>
                  <a:srgbClr val="ECE2D0"/>
                </a:solidFill>
                <a:latin typeface="Calibri"/>
              </a:rPr>
              <a:t>Utilidad: Mapear la arquitectura contrapuntística  ·  Comparar uso del material en la Misa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804672"/>
          </a:xfrm>
          <a:prstGeom prst="rect">
            <a:avLst/>
          </a:prstGeom>
          <a:noFill/>
        </p:spPr>
        <p:txBody>
          <a:bodyPr wrap="square" lIns="137160" tIns="146304">
            <a:spAutoFit/>
          </a:bodyPr>
          <a:lstStyle/>
          <a:p>
            <a:pPr algn="l"/>
            <a:r>
              <a:rPr sz="2600" b="1" i="0">
                <a:solidFill>
                  <a:srgbClr val="ECE2D0"/>
                </a:solidFill>
                <a:latin typeface="Georgia"/>
              </a:rPr>
              <a:t>Herramienta 6: Mapas de Calor (Heatmaps)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5156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" y="105156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05156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07592" y="105156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5" y="105156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57400" y="105156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32304" y="1051560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1051560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82112" y="1051560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57016" y="1051560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1920" y="1051560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06824" y="1051560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" y="134416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" y="134416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2688" y="134416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07592" y="134416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82495" y="1344168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57400" y="1344168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32304" y="1344168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07208" y="1344168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82112" y="1344168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557016" y="1344168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31920" y="1344168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06824" y="1344168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2880" y="1636776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7784" y="1636776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2688" y="1636776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307592" y="1636776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682495" y="1636776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57400" y="1636776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32304" y="1636776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07208" y="1636776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82112" y="1636776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57016" y="1636776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931920" y="1636776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06824" y="1636776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1929384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57784" y="1929384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" y="1929384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307592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682495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057400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32304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07208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82112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557016" y="1929384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31920" y="1929384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06824" y="1929384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2880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7784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32688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307592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682495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057400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32304" y="2221991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807208" y="2221991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82112" y="2221991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57016" y="2221991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31920" y="2221991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306824" y="2221991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82880" y="2514600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7784" y="2514600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32688" y="2514600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7592" y="2514600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82495" y="2514600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57400" y="251460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432304" y="251460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807208" y="251460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182112" y="251460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57016" y="251460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931920" y="2514600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306824" y="2514600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82880" y="2807208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57784" y="2807208"/>
            <a:ext cx="347472" cy="265176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32688" y="2807208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307592" y="2807208"/>
            <a:ext cx="347472" cy="265176"/>
          </a:xfrm>
          <a:prstGeom prst="rect">
            <a:avLst/>
          </a:prstGeom>
          <a:solidFill>
            <a:srgbClr val="C897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82495" y="2807208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057400" y="2807208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32304" y="280720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807208" y="280720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82112" y="280720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557016" y="2807208"/>
            <a:ext cx="347472" cy="265176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931920" y="2807208"/>
            <a:ext cx="347472" cy="265176"/>
          </a:xfrm>
          <a:prstGeom prst="rect">
            <a:avLst/>
          </a:prstGeom>
          <a:solidFill>
            <a:srgbClr val="8B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306824" y="2807208"/>
            <a:ext cx="347472" cy="26517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029200" y="10972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¿Qué muestran?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029200" y="1527048"/>
            <a:ext cx="38404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Eje horizontal: posición en la partitura (compases)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Eje vertical: tipo de patrón o voz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Color: frecuencia o densidad del patrón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029200" y="29260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Utilidad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029200" y="3355848"/>
            <a:ext cx="384048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Ver dónde se concentran las citas y transformaciones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Comparar arquitectura formal de modelo y Misa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Identificar secciones de imitación densa vs. textura libre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2400" b="1" i="0">
                <a:solidFill>
                  <a:srgbClr val="ECE2D0"/>
                </a:solidFill>
                <a:latin typeface="Georgia"/>
              </a:rPr>
              <a:t>Herramienta 7: Radar Plots y Gráficos de Cadencias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Radar Plot (diagrama radial)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481328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Muestra el perfil tonal de la obra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Cada "radio" = un grado o tono cadencial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Compara el perfil modal de varias obras</a:t>
            </a:r>
          </a:p>
        </p:txBody>
      </p:sp>
      <p:sp>
        <p:nvSpPr>
          <p:cNvPr id="7" name="Oval 6"/>
          <p:cNvSpPr/>
          <p:nvPr/>
        </p:nvSpPr>
        <p:spPr>
          <a:xfrm>
            <a:off x="1938528" y="3310128"/>
            <a:ext cx="694944" cy="694944"/>
          </a:xfrm>
          <a:prstGeom prst="ellipse">
            <a:avLst/>
          </a:prstGeom>
          <a:solidFill>
            <a:srgbClr val="C8979A">
              <a:alpha val="35000"/>
            </a:srgbClr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91056" y="2962656"/>
            <a:ext cx="1389888" cy="1389888"/>
          </a:xfrm>
          <a:prstGeom prst="ellipse">
            <a:avLst/>
          </a:prstGeom>
          <a:solidFill>
            <a:srgbClr val="A26769">
              <a:alpha val="31000"/>
            </a:srgbClr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43584" y="2615184"/>
            <a:ext cx="2084832" cy="2084832"/>
          </a:xfrm>
          <a:prstGeom prst="ellipse">
            <a:avLst/>
          </a:prstGeom>
          <a:solidFill>
            <a:srgbClr val="6D2E46">
              <a:alpha val="27000"/>
            </a:srgbClr>
          </a:solidFill>
          <a:ln w="1270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54864" cy="3749039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0515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Progress Charts (Cadencias)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481328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Cadencias en secuencia temporal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Visualiza la planificación tonal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Analiza la articulación formal de los movimientos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785615"/>
            <a:ext cx="310896" cy="32918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21224" y="3346704"/>
            <a:ext cx="310896" cy="768096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96128" y="3566160"/>
            <a:ext cx="310896" cy="54864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71031" y="3127248"/>
            <a:ext cx="310896" cy="987552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5936" y="3675887"/>
            <a:ext cx="310896" cy="438912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20840" y="3456432"/>
            <a:ext cx="310896" cy="6583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95744" y="3236976"/>
            <a:ext cx="310896" cy="87782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70648" y="3730752"/>
            <a:ext cx="310896" cy="38404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45552" y="3511296"/>
            <a:ext cx="310896" cy="603504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0456" y="3291840"/>
            <a:ext cx="310896" cy="822959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46320" y="4114800"/>
            <a:ext cx="3749039" cy="36576"/>
          </a:xfrm>
          <a:prstGeom prst="rect">
            <a:avLst/>
          </a:prstGeom>
          <a:solidFill>
            <a:srgbClr val="2C1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416966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A26769"/>
                </a:solidFill>
                <a:latin typeface="Calibri"/>
              </a:rPr>
              <a:t>Secuencia temporal de cadencias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Herramienta 8: Diagramas de Red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640080" y="1691640"/>
            <a:ext cx="1417320" cy="1142999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40080" y="2834639"/>
            <a:ext cx="1417320" cy="1051561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40080" y="2761488"/>
            <a:ext cx="2852928" cy="73151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057400" y="1188720"/>
            <a:ext cx="1417320" cy="502920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057400" y="1691640"/>
            <a:ext cx="1435608" cy="1069848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2057400" y="2761488"/>
            <a:ext cx="1435608" cy="1124712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057400" y="3886200"/>
            <a:ext cx="1417320" cy="411480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474720" y="1188720"/>
            <a:ext cx="18288" cy="1572768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474720" y="2761488"/>
            <a:ext cx="18288" cy="1536192"/>
          </a:xfrm>
          <a:prstGeom prst="line">
            <a:avLst/>
          </a:prstGeom>
          <a:ln w="15240">
            <a:solidFill>
              <a:srgbClr val="A267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65760" y="2560320"/>
            <a:ext cx="548640" cy="548640"/>
          </a:xfrm>
          <a:prstGeom prst="ellipse">
            <a:avLst/>
          </a:prstGeom>
          <a:solidFill>
            <a:srgbClr val="6D2E46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145536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Motete</a:t>
            </a:r>
          </a:p>
        </p:txBody>
      </p:sp>
      <p:sp>
        <p:nvSpPr>
          <p:cNvPr id="16" name="Oval 15"/>
          <p:cNvSpPr/>
          <p:nvPr/>
        </p:nvSpPr>
        <p:spPr>
          <a:xfrm>
            <a:off x="1828800" y="1463040"/>
            <a:ext cx="457200" cy="457200"/>
          </a:xfrm>
          <a:prstGeom prst="ellipse">
            <a:avLst/>
          </a:prstGeom>
          <a:solidFill>
            <a:srgbClr val="A26769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1956816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Kyrie</a:t>
            </a:r>
          </a:p>
        </p:txBody>
      </p:sp>
      <p:sp>
        <p:nvSpPr>
          <p:cNvPr id="18" name="Oval 17"/>
          <p:cNvSpPr/>
          <p:nvPr/>
        </p:nvSpPr>
        <p:spPr>
          <a:xfrm>
            <a:off x="1828800" y="3657600"/>
            <a:ext cx="457200" cy="457200"/>
          </a:xfrm>
          <a:prstGeom prst="ellipse">
            <a:avLst/>
          </a:prstGeom>
          <a:solidFill>
            <a:srgbClr val="A26769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4151376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Gloria</a:t>
            </a:r>
          </a:p>
        </p:txBody>
      </p:sp>
      <p:sp>
        <p:nvSpPr>
          <p:cNvPr id="20" name="Oval 19"/>
          <p:cNvSpPr/>
          <p:nvPr/>
        </p:nvSpPr>
        <p:spPr>
          <a:xfrm>
            <a:off x="3291840" y="1005840"/>
            <a:ext cx="365760" cy="365760"/>
          </a:xfrm>
          <a:prstGeom prst="ellipse">
            <a:avLst/>
          </a:prstGeom>
          <a:solidFill>
            <a:srgbClr val="8B3A54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408176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Credo</a:t>
            </a:r>
          </a:p>
        </p:txBody>
      </p:sp>
      <p:sp>
        <p:nvSpPr>
          <p:cNvPr id="22" name="Oval 21"/>
          <p:cNvSpPr/>
          <p:nvPr/>
        </p:nvSpPr>
        <p:spPr>
          <a:xfrm>
            <a:off x="3291840" y="2560320"/>
            <a:ext cx="402336" cy="402336"/>
          </a:xfrm>
          <a:prstGeom prst="ellipse">
            <a:avLst/>
          </a:prstGeom>
          <a:solidFill>
            <a:srgbClr val="8B3A54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2999232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Sanctus</a:t>
            </a:r>
          </a:p>
        </p:txBody>
      </p:sp>
      <p:sp>
        <p:nvSpPr>
          <p:cNvPr id="24" name="Oval 23"/>
          <p:cNvSpPr/>
          <p:nvPr/>
        </p:nvSpPr>
        <p:spPr>
          <a:xfrm>
            <a:off x="3291840" y="4114800"/>
            <a:ext cx="365760" cy="365760"/>
          </a:xfrm>
          <a:prstGeom prst="ellipse">
            <a:avLst/>
          </a:prstGeom>
          <a:solidFill>
            <a:srgbClr val="A26769"/>
          </a:solidFill>
          <a:ln w="19050">
            <a:solidFill>
              <a:srgbClr val="ECE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0" y="4517136"/>
            <a:ext cx="777240" cy="256032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ctr"/>
            <a:r>
              <a:rPr sz="1000" b="0" i="0">
                <a:solidFill>
                  <a:srgbClr val="2C1018"/>
                </a:solidFill>
                <a:latin typeface="Calibri"/>
              </a:rPr>
              <a:t>Agnus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097280"/>
            <a:ext cx="4297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>Nodos = obras o motivos musicales
Aristas = similitudes, citas o relaciones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192024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Utilidad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2359152"/>
            <a:ext cx="4297680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Visualizar la red de influencias entre modelo y misas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Detectar agrupaciones de obras por patrones compartidos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Mostrar la genealogía de un motivo a través del corpus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Investigar la transmisión musical y el estilo compositivo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6D2E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74320"/>
            <a:ext cx="1828800" cy="1828800"/>
          </a:xfrm>
          <a:prstGeom prst="ellipse">
            <a:avLst/>
          </a:prstGeom>
          <a:solidFill>
            <a:srgbClr val="A26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CE2D0"/>
                </a:solidFill>
                <a:latin typeface="Georgia"/>
              </a:rPr>
              <a:t>Herramienta 9: Análisis de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3268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979A"/>
                </a:solidFill>
                <a:latin typeface="Georgia"/>
              </a:rPr>
              <a:t>Del análisis individual al estudio a gran escala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848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Aplica todos los métodos anteriores sobre múltiples obras simultáneamente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84831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Resultados agregados: distribución de intervalos, perfiles tonales, frecuencia de cadencias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0632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60904"/>
            <a:ext cx="8046720" cy="475488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400" b="0" i="0">
                <a:solidFill>
                  <a:srgbClr val="ECE2D0"/>
                </a:solidFill>
                <a:latin typeface="Calibri"/>
              </a:rPr>
              <a:t>Comparación estadística entre compositores, géneros y períodos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84448"/>
            <a:ext cx="3931920" cy="1005840"/>
          </a:xfrm>
          <a:prstGeom prst="rect">
            <a:avLst/>
          </a:prstGeom>
          <a:solidFill>
            <a:srgbClr val="6D2E4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30168"/>
            <a:ext cx="3749039" cy="457200"/>
          </a:xfrm>
          <a:prstGeom prst="rect">
            <a:avLst/>
          </a:prstGeom>
          <a:noFill/>
        </p:spPr>
        <p:txBody>
          <a:bodyPr wrap="square" lIns="0" tIns="54864">
            <a:spAutoFit/>
          </a:bodyPr>
          <a:lstStyle/>
          <a:p>
            <a:pPr algn="ctr"/>
            <a:r>
              <a:rPr sz="1700" b="1" i="0">
                <a:solidFill>
                  <a:srgbClr val="ECE2D0"/>
                </a:solidFill>
                <a:latin typeface="Georgia"/>
              </a:rPr>
              <a:t>"Close Reading"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87368"/>
            <a:ext cx="3749039" cy="411480"/>
          </a:xfrm>
          <a:prstGeom prst="rect">
            <a:avLst/>
          </a:prstGeom>
          <a:noFill/>
        </p:spPr>
        <p:txBody>
          <a:bodyPr wrap="square" lIns="0" tIns="54864">
            <a:spAutoFit/>
          </a:bodyPr>
          <a:lstStyle/>
          <a:p>
            <a:pPr algn="ctr"/>
            <a:r>
              <a:rPr sz="1200" b="0" i="0">
                <a:solidFill>
                  <a:srgbClr val="C8979A"/>
                </a:solidFill>
                <a:latin typeface="Calibri"/>
              </a:rPr>
              <a:t>Análisis detallado de una obra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584448"/>
            <a:ext cx="3931920" cy="1005840"/>
          </a:xfrm>
          <a:prstGeom prst="rect">
            <a:avLst/>
          </a:prstGeom>
          <a:solidFill>
            <a:srgbClr val="8B3A54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3630168"/>
            <a:ext cx="3749039" cy="457200"/>
          </a:xfrm>
          <a:prstGeom prst="rect">
            <a:avLst/>
          </a:prstGeom>
          <a:noFill/>
        </p:spPr>
        <p:txBody>
          <a:bodyPr wrap="square" lIns="0" tIns="54864">
            <a:spAutoFit/>
          </a:bodyPr>
          <a:lstStyle/>
          <a:p>
            <a:pPr algn="ctr"/>
            <a:r>
              <a:rPr sz="1700" b="1" i="0">
                <a:solidFill>
                  <a:srgbClr val="ECE2D0"/>
                </a:solidFill>
                <a:latin typeface="Georgia"/>
              </a:rPr>
              <a:t>"Distant Reading"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59" y="4087368"/>
            <a:ext cx="3749039" cy="411480"/>
          </a:xfrm>
          <a:prstGeom prst="rect">
            <a:avLst/>
          </a:prstGeom>
          <a:noFill/>
        </p:spPr>
        <p:txBody>
          <a:bodyPr wrap="square" lIns="0" tIns="54864">
            <a:spAutoFit/>
          </a:bodyPr>
          <a:lstStyle/>
          <a:p>
            <a:pPr algn="ctr"/>
            <a:r>
              <a:rPr sz="1200" b="0" i="0">
                <a:solidFill>
                  <a:srgbClr val="C8979A"/>
                </a:solidFill>
                <a:latin typeface="Calibri"/>
              </a:rPr>
              <a:t>Patrones en cientos de obras a la vez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Formatos de Archivo Compatibles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97280"/>
            <a:ext cx="2834640" cy="278892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1234440"/>
            <a:ext cx="914400" cy="914400"/>
          </a:xfrm>
          <a:prstGeom prst="ellipse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34440"/>
            <a:ext cx="914400" cy="914400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240280"/>
            <a:ext cx="2651760" cy="457200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MEI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743200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Music Encoding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035808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Estándar académico internacional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328416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Usado por el corpus CRIM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097280"/>
            <a:ext cx="2834640" cy="278892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51960" y="1234440"/>
            <a:ext cx="914400" cy="914400"/>
          </a:xfrm>
          <a:prstGeom prst="ellipse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1234440"/>
            <a:ext cx="914400" cy="914400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40280"/>
            <a:ext cx="2651760" cy="457200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MusicXML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743200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Formato universal de notación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035808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Compatible con Sibelius, Finale,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328416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ECE2D0"/>
                </a:solidFill>
                <a:latin typeface="Calibri"/>
              </a:rPr>
              <a:t>MuseScore, Dorico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1072" y="1097280"/>
            <a:ext cx="2834640" cy="2788920"/>
          </a:xfrm>
          <a:prstGeom prst="rect">
            <a:avLst/>
          </a:prstGeom>
          <a:solidFill>
            <a:srgbClr val="F5EFE6"/>
          </a:solidFill>
          <a:ln w="254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251192" y="1234440"/>
            <a:ext cx="914400" cy="91440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1192" y="1234440"/>
            <a:ext cx="914400" cy="914400"/>
          </a:xfrm>
          <a:prstGeom prst="rect">
            <a:avLst/>
          </a:prstGeom>
          <a:noFill/>
        </p:spPr>
        <p:txBody>
          <a:bodyPr wrap="square" lIns="0" tIns="182880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2240280"/>
            <a:ext cx="2651760" cy="457200"/>
          </a:xfrm>
          <a:prstGeom prst="rect">
            <a:avLst/>
          </a:prstGeom>
          <a:noFill/>
        </p:spPr>
        <p:txBody>
          <a:bodyPr wrap="square" lIns="0" tIns="36576">
            <a:spAutoFit/>
          </a:bodyPr>
          <a:lstStyle/>
          <a:p>
            <a:pPr algn="ctr"/>
            <a:r>
              <a:rPr sz="2200" b="1" i="0">
                <a:solidFill>
                  <a:srgbClr val="6D2E46"/>
                </a:solidFill>
                <a:latin typeface="Georgia"/>
              </a:rPr>
              <a:t>MIDI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743200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2C1018"/>
                </a:solidFill>
                <a:latin typeface="Calibri"/>
              </a:rPr>
              <a:t>Formato básico de datos MIDI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035808"/>
            <a:ext cx="265176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ctr"/>
            <a:r>
              <a:rPr sz="1200" b="0" i="0">
                <a:solidFill>
                  <a:srgbClr val="2C1018"/>
                </a:solidFill>
                <a:latin typeface="Calibri"/>
              </a:rPr>
              <a:t>Para análisis exploratorio inicial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4160520"/>
            <a:ext cx="8686800" cy="658368"/>
          </a:xfrm>
          <a:prstGeom prst="rect">
            <a:avLst/>
          </a:prstGeom>
          <a:solidFill>
            <a:srgbClr val="F5EFE6"/>
          </a:solidFill>
          <a:ln w="1270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4160520"/>
            <a:ext cx="8686800" cy="658368"/>
          </a:xfrm>
          <a:prstGeom prst="rect">
            <a:avLst/>
          </a:prstGeom>
          <a:noFill/>
        </p:spPr>
        <p:txBody>
          <a:bodyPr wrap="square" lIns="0" tIns="164592">
            <a:spAutoFit/>
          </a:bodyPr>
          <a:lstStyle/>
          <a:p>
            <a:pPr algn="ctr"/>
            <a:r>
              <a:rPr sz="1200" b="0" i="1">
                <a:solidFill>
                  <a:srgbClr val="6D2E46"/>
                </a:solidFill>
                <a:latin typeface="Calibri"/>
              </a:rPr>
              <a:t>El corpus CRIM ofrece ediciones de alta calidad en formato MEI  ·  También puedes importar tus propias partituras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Flujo de Trabajo para Estudiantes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051560"/>
            <a:ext cx="685800" cy="68580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81051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Acceder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9456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intervals-streamlit.crimproject.org</a:t>
            </a:r>
          </a:p>
        </p:txBody>
      </p:sp>
      <p:sp>
        <p:nvSpPr>
          <p:cNvPr id="9" name="Oval 8"/>
          <p:cNvSpPr/>
          <p:nvPr/>
        </p:nvSpPr>
        <p:spPr>
          <a:xfrm>
            <a:off x="3218688" y="1051560"/>
            <a:ext cx="685800" cy="68580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8688" y="105156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181051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Cargar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Una obra del corpus CRIM o tu propio archivo MEI/MusicXML</a:t>
            </a:r>
          </a:p>
        </p:txBody>
      </p:sp>
      <p:sp>
        <p:nvSpPr>
          <p:cNvPr id="13" name="Oval 12"/>
          <p:cNvSpPr/>
          <p:nvPr/>
        </p:nvSpPr>
        <p:spPr>
          <a:xfrm>
            <a:off x="6163056" y="1051560"/>
            <a:ext cx="685800" cy="68580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105156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6" y="181051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Seleccionar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63056" y="219456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La herramienta de análisis deseada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2971800"/>
            <a:ext cx="685800" cy="68580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97180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373075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Configurar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411480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Parámetros: tipo de intervalo, voces, n-grama, etc.</a:t>
            </a:r>
          </a:p>
        </p:txBody>
      </p:sp>
      <p:sp>
        <p:nvSpPr>
          <p:cNvPr id="21" name="Oval 20"/>
          <p:cNvSpPr/>
          <p:nvPr/>
        </p:nvSpPr>
        <p:spPr>
          <a:xfrm>
            <a:off x="3218688" y="2971800"/>
            <a:ext cx="685800" cy="685800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18688" y="297180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18688" y="373075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Visualizar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8688" y="411480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Resultados en tablas y gráficos interactivos</a:t>
            </a:r>
          </a:p>
        </p:txBody>
      </p:sp>
      <p:sp>
        <p:nvSpPr>
          <p:cNvPr id="25" name="Oval 24"/>
          <p:cNvSpPr/>
          <p:nvPr/>
        </p:nvSpPr>
        <p:spPr>
          <a:xfrm>
            <a:off x="6163056" y="2971800"/>
            <a:ext cx="685800" cy="685800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2971800"/>
            <a:ext cx="685800" cy="685800"/>
          </a:xfrm>
          <a:prstGeom prst="rect">
            <a:avLst/>
          </a:prstGeom>
          <a:noFill/>
        </p:spPr>
        <p:txBody>
          <a:bodyPr wrap="square" lIns="0" tIns="146304">
            <a:spAutoFit/>
          </a:bodyPr>
          <a:lstStyle/>
          <a:p>
            <a:pPr algn="ctr"/>
            <a:r>
              <a:rPr sz="2200" b="1" i="0">
                <a:solidFill>
                  <a:srgbClr val="ECE2D0"/>
                </a:solidFill>
                <a:latin typeface="Georg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3730752"/>
            <a:ext cx="2743200" cy="3657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500" b="1" i="0">
                <a:solidFill>
                  <a:srgbClr val="6D2E46"/>
                </a:solidFill>
                <a:latin typeface="Georgia"/>
              </a:rPr>
              <a:t>Descargar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3056" y="4114800"/>
            <a:ext cx="2743200" cy="59436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pPr algn="l"/>
            <a:r>
              <a:rPr sz="1200" b="0" i="0">
                <a:solidFill>
                  <a:srgbClr val="2C1018"/>
                </a:solidFill>
                <a:latin typeface="Calibri"/>
              </a:rPr>
              <a:t>Datos en CSV para publicaciones académicas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Aplicaciones Docentes e Investigadoras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4023360" cy="411480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EN EL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40233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Análisis comparativo de motetes y sus Misas parodia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Prácticas de análisis contrapuntístico asistido por ordenador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Proyectos de investigación sobre estilo y cita musical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Actividades de escucha activa con datos visuales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3749039"/>
            <a:ext cx="1463040" cy="1280160"/>
          </a:xfrm>
          <a:prstGeom prst="ellipse">
            <a:avLst/>
          </a:prstGeom>
          <a:solidFill>
            <a:srgbClr val="6D2E46">
              <a:alpha val="20000"/>
            </a:srgbClr>
          </a:solidFill>
          <a:ln w="1905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005840"/>
            <a:ext cx="54864" cy="3749039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28032" y="1005840"/>
            <a:ext cx="4023360" cy="41148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8032" y="1005840"/>
            <a:ext cx="4023360" cy="411480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EN LA INVESTIGACIÓN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2" y="1481328"/>
            <a:ext cx="402336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Identificación sistemática de citas y transformaciones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Estudios de recepción y transmisión musical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Análisis estadístico del estilo de un compositor</a:t>
            </a:r>
          </a:p>
          <a:p>
            <a:pPr algn="l" marL="342900">
              <a:buChar char="•"/>
              <a:buFont typeface="Arial"/>
              <a:indent val="-342900"/>
            </a:pPr>
            <a:r>
              <a:rPr sz="1300" b="0" i="0">
                <a:solidFill>
                  <a:srgbClr val="2C1018"/>
                </a:solidFill>
                <a:latin typeface="Calibri"/>
              </a:rPr>
              <a:t>Publicaciones con visualizaciones reproducibles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3749039"/>
            <a:ext cx="1463040" cy="1280160"/>
          </a:xfrm>
          <a:prstGeom prst="ellipse">
            <a:avLst/>
          </a:prstGeom>
          <a:solidFill>
            <a:srgbClr val="A26769">
              <a:alpha val="20000"/>
            </a:srgbClr>
          </a:solidFill>
          <a:ln w="19050">
            <a:solidFill>
              <a:srgbClr val="6D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2D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595360" cy="777240"/>
          </a:xfrm>
          <a:prstGeom prst="rect">
            <a:avLst/>
          </a:prstGeom>
          <a:noFill/>
        </p:spPr>
        <p:txBody>
          <a:bodyPr wrap="square" lIns="137160">
            <a:spAutoFit/>
          </a:bodyPr>
          <a:lstStyle/>
          <a:p>
            <a:pPr algn="l"/>
            <a:r>
              <a:rPr sz="3000" b="1" i="0">
                <a:solidFill>
                  <a:srgbClr val="ECE2D0"/>
                </a:solidFill>
                <a:latin typeface="Georgia"/>
              </a:rPr>
              <a:t>Recursos y Comunidad</a:t>
            </a:r>
          </a:p>
        </p:txBody>
      </p:sp>
      <p:sp>
        <p:nvSpPr>
          <p:cNvPr id="5" name="Oval 4"/>
          <p:cNvSpPr/>
          <p:nvPr/>
        </p:nvSpPr>
        <p:spPr>
          <a:xfrm>
            <a:off x="274320" y="1088136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88136"/>
            <a:ext cx="475488" cy="475488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51560"/>
            <a:ext cx="7955279" cy="5486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/>
            </a:r>
            <a:r>
              <a:rPr b="1" sz="1400">
                <a:solidFill>
                  <a:srgbClr val="2C1018"/>
                </a:solidFill>
                <a:latin typeface="Calibri"/>
              </a:rPr>
              <a:t>crimproject.org</a:t>
            </a:r>
            <a:r>
              <a:rPr b="0" sz="1400">
                <a:solidFill>
                  <a:srgbClr val="2C1018"/>
                </a:solidFill>
                <a:latin typeface="Calibri"/>
              </a:rPr>
              <a:t>  —  Web principal del proyecto</a:t>
            </a:r>
          </a:p>
        </p:txBody>
      </p:sp>
      <p:sp>
        <p:nvSpPr>
          <p:cNvPr id="8" name="Oval 7"/>
          <p:cNvSpPr/>
          <p:nvPr/>
        </p:nvSpPr>
        <p:spPr>
          <a:xfrm>
            <a:off x="274320" y="1728216"/>
            <a:ext cx="475488" cy="47548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728216"/>
            <a:ext cx="475488" cy="475488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691639"/>
            <a:ext cx="7955279" cy="5486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/>
            </a:r>
            <a:r>
              <a:rPr b="1" sz="1400">
                <a:solidFill>
                  <a:srgbClr val="2C1018"/>
                </a:solidFill>
                <a:latin typeface="Calibri"/>
              </a:rPr>
              <a:t>intervals-streamlit.crimproject.org</a:t>
            </a:r>
            <a:r>
              <a:rPr b="0" sz="1400">
                <a:solidFill>
                  <a:srgbClr val="2C1018"/>
                </a:solidFill>
                <a:latin typeface="Calibri"/>
              </a:rPr>
              <a:t>  —  Aplicación web sin código</a:t>
            </a:r>
          </a:p>
        </p:txBody>
      </p:sp>
      <p:sp>
        <p:nvSpPr>
          <p:cNvPr id="11" name="Oval 10"/>
          <p:cNvSpPr/>
          <p:nvPr/>
        </p:nvSpPr>
        <p:spPr>
          <a:xfrm>
            <a:off x="274320" y="2368296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2368296"/>
            <a:ext cx="475488" cy="475488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331720"/>
            <a:ext cx="7955279" cy="5486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/>
            </a:r>
            <a:r>
              <a:rPr b="1" sz="1400">
                <a:solidFill>
                  <a:srgbClr val="2C1018"/>
                </a:solidFill>
                <a:latin typeface="Calibri"/>
              </a:rPr>
              <a:t>github.com/HCDigitalScholarship/intervals</a:t>
            </a:r>
            <a:r>
              <a:rPr b="0" sz="1400">
                <a:solidFill>
                  <a:srgbClr val="2C1018"/>
                </a:solidFill>
                <a:latin typeface="Calibri"/>
              </a:rPr>
              <a:t>  —  Código fuente y tutoriales</a:t>
            </a:r>
          </a:p>
        </p:txBody>
      </p:sp>
      <p:sp>
        <p:nvSpPr>
          <p:cNvPr id="14" name="Oval 13"/>
          <p:cNvSpPr/>
          <p:nvPr/>
        </p:nvSpPr>
        <p:spPr>
          <a:xfrm>
            <a:off x="274320" y="3008375"/>
            <a:ext cx="475488" cy="475488"/>
          </a:xfrm>
          <a:prstGeom prst="ellipse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3008375"/>
            <a:ext cx="475488" cy="475488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971799"/>
            <a:ext cx="7955279" cy="5486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/>
            </a:r>
            <a:r>
              <a:rPr b="1" sz="1400">
                <a:solidFill>
                  <a:srgbClr val="2C1018"/>
                </a:solidFill>
                <a:latin typeface="Calibri"/>
              </a:rPr>
              <a:t>pip install crim_intervals</a:t>
            </a:r>
            <a:r>
              <a:rPr b="0" sz="1400">
                <a:solidFill>
                  <a:srgbClr val="2C1018"/>
                </a:solidFill>
                <a:latin typeface="Calibri"/>
              </a:rPr>
              <a:t>  —  Biblioteca Python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3648456"/>
            <a:ext cx="475488" cy="475488"/>
          </a:xfrm>
          <a:prstGeom prst="ellipse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648456"/>
            <a:ext cx="475488" cy="475488"/>
          </a:xfrm>
          <a:prstGeom prst="rect">
            <a:avLst/>
          </a:prstGeom>
          <a:noFill/>
        </p:spPr>
        <p:txBody>
          <a:bodyPr wrap="square" lIns="0" tIns="91440">
            <a:spAutoFit/>
          </a:bodyPr>
          <a:lstStyle/>
          <a:p>
            <a:pPr algn="ctr"/>
            <a:r>
              <a:rPr sz="1400" b="1" i="0">
                <a:solidFill>
                  <a:srgbClr val="ECE2D0"/>
                </a:solidFill>
                <a:latin typeface="Georgia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611879"/>
            <a:ext cx="7955279" cy="548640"/>
          </a:xfrm>
          <a:prstGeom prst="rect">
            <a:avLst/>
          </a:prstGeom>
          <a:noFill/>
        </p:spPr>
        <p:txBody>
          <a:bodyPr wrap="square" tIns="91440">
            <a:spAutoFit/>
          </a:bodyPr>
          <a:lstStyle/>
          <a:p>
            <a:pPr algn="l"/>
            <a:r>
              <a:rPr sz="1400" b="0" i="0">
                <a:solidFill>
                  <a:srgbClr val="2C1018"/>
                </a:solidFill>
                <a:latin typeface="Calibri"/>
              </a:rPr>
              <a:t/>
            </a:r>
            <a:r>
              <a:rPr b="1" sz="1400">
                <a:solidFill>
                  <a:srgbClr val="2C1018"/>
                </a:solidFill>
                <a:latin typeface="Calibri"/>
              </a:rPr>
              <a:t>+50 investigadores</a:t>
            </a:r>
            <a:r>
              <a:rPr b="0" sz="1400">
                <a:solidFill>
                  <a:srgbClr val="2C1018"/>
                </a:solidFill>
                <a:latin typeface="Calibri"/>
              </a:rPr>
              <a:t>  —  Comunidad internacional activa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solidFill>
            <a:srgbClr val="4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</p:spPr>
        <p:txBody>
          <a:bodyPr wrap="square" lIns="0" tIns="109728">
            <a:spAutoFit/>
          </a:bodyPr>
          <a:lstStyle/>
          <a:p>
            <a:pPr algn="ctr"/>
            <a:r>
              <a:rPr sz="1300" b="1" i="1">
                <a:solidFill>
                  <a:srgbClr val="ECE2D0"/>
                </a:solidFill>
                <a:latin typeface="Calibri"/>
              </a:rPr>
              <a:t>Los tutoriales en Jupyter Notebooks están disponibles gratuitamente en GitHub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132320" y="-914400"/>
            <a:ext cx="2926080" cy="2926080"/>
          </a:xfrm>
          <a:prstGeom prst="ellipse">
            <a:avLst/>
          </a:prstGeom>
          <a:solidFill>
            <a:srgbClr val="6D2E46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63840" y="-274320"/>
            <a:ext cx="1828800" cy="1828800"/>
          </a:xfrm>
          <a:prstGeom prst="ellipse">
            <a:avLst/>
          </a:prstGeom>
          <a:solidFill>
            <a:srgbClr val="A26769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6858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CE2D0"/>
                </a:solidFill>
                <a:latin typeface="Georgia"/>
              </a:rPr>
              <a:t>CRIM Intervals: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8979A"/>
                </a:solidFill>
                <a:latin typeface="Georgia"/>
              </a:rPr>
              <a:t>El Futuro del Análisis Musicológico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848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08760"/>
            <a:ext cx="8046720" cy="45720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500" b="0" i="0">
                <a:solidFill>
                  <a:srgbClr val="ECE2D0"/>
                </a:solidFill>
                <a:latin typeface="Calibri"/>
              </a:rPr>
              <a:t>Transforma el análisis de la polifonía renacentista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6712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8046720" cy="45720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500" b="0" i="0">
                <a:solidFill>
                  <a:srgbClr val="ECE2D0"/>
                </a:solidFill>
                <a:latin typeface="Calibri"/>
              </a:rPr>
              <a:t>Combina rigor analítico con accesibilidad (sin programación)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1576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39"/>
            <a:ext cx="8046720" cy="45720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500" b="0" i="0">
                <a:solidFill>
                  <a:srgbClr val="ECE2D0"/>
                </a:solidFill>
                <a:latin typeface="Calibri"/>
              </a:rPr>
              <a:t>Del análisis detallado al estudio masivo de corpus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64408"/>
            <a:ext cx="201168" cy="201168"/>
          </a:xfrm>
          <a:prstGeom prst="rect">
            <a:avLst/>
          </a:prstGeom>
          <a:solidFill>
            <a:srgbClr val="A26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54679"/>
            <a:ext cx="8046720" cy="457200"/>
          </a:xfrm>
          <a:prstGeom prst="rect">
            <a:avLst/>
          </a:prstGeom>
          <a:noFill/>
        </p:spPr>
        <p:txBody>
          <a:bodyPr wrap="square" tIns="73152">
            <a:spAutoFit/>
          </a:bodyPr>
          <a:lstStyle/>
          <a:p>
            <a:pPr algn="l"/>
            <a:r>
              <a:rPr sz="1500" b="0" i="0">
                <a:solidFill>
                  <a:srgbClr val="ECE2D0"/>
                </a:solidFill>
                <a:latin typeface="Calibri"/>
              </a:rPr>
              <a:t>Herramienta ideal para estudiantes e investigadores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675887"/>
            <a:ext cx="8229600" cy="804672"/>
          </a:xfrm>
          <a:prstGeom prst="rect">
            <a:avLst/>
          </a:prstGeom>
          <a:solidFill>
            <a:srgbClr val="6D2E46"/>
          </a:solidFill>
          <a:ln w="19050">
            <a:solidFill>
              <a:srgbClr val="A26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75887"/>
            <a:ext cx="8229600" cy="804672"/>
          </a:xfrm>
          <a:prstGeom prst="rect">
            <a:avLst/>
          </a:prstGeom>
          <a:noFill/>
        </p:spPr>
        <p:txBody>
          <a:bodyPr wrap="square" lIns="0" tIns="201168">
            <a:spAutoFit/>
          </a:bodyPr>
          <a:lstStyle/>
          <a:p>
            <a:pPr algn="ctr"/>
            <a:r>
              <a:rPr sz="1700" b="0" i="1">
                <a:solidFill>
                  <a:srgbClr val="ECE2D0"/>
                </a:solidFill>
                <a:latin typeface="Georgia"/>
              </a:rPr>
              <a:t>"Las Humanidades Digitales al servicio del repertorio histórico"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979A"/>
                </a:solidFill>
                <a:latin typeface="Calibri"/>
              </a:rPr>
              <a:t>intervals-streamlit.crimproject.org  ·  crimproject.org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